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12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0F0FA"/>
                </a:solidFill>
                <a:latin typeface="Segoe UI"/>
              </a:rPr>
              <a:t>Pipeline de Data Augmentation   ·   Clasificador de Tumores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B5B5CF"/>
                </a:solidFill>
                <a:latin typeface="Segoe UI"/>
              </a:rPr>
              <a:t>De 9.867 MRIs reales a 394.680 vistas estocásticas durante 40 épocas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834640" cy="1325880"/>
          </a:xfrm>
          <a:prstGeom prst="roundRect">
            <a:avLst/>
          </a:prstGeom>
          <a:solidFill>
            <a:srgbClr val="14141E"/>
          </a:solidFill>
          <a:ln w="279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44752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A78BFA"/>
                </a:solidFill>
                <a:latin typeface="Segoe UI"/>
              </a:rPr>
              <a:t>9.867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MRIs reales</a:t>
            </a:r>
          </a:p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en disco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1280160"/>
            <a:ext cx="2834640" cy="1325880"/>
          </a:xfrm>
          <a:prstGeom prst="roundRect">
            <a:avLst/>
          </a:prstGeom>
          <a:solidFill>
            <a:srgbClr val="14141E"/>
          </a:solidFill>
          <a:ln w="279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444752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Segoe UI"/>
              </a:rPr>
              <a:t>×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6" y="2103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épocas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280160"/>
            <a:ext cx="2834640" cy="1325880"/>
          </a:xfrm>
          <a:prstGeom prst="roundRect">
            <a:avLst/>
          </a:prstGeom>
          <a:solidFill>
            <a:srgbClr val="14141E"/>
          </a:solidFill>
          <a:ln w="27940">
            <a:solidFill>
              <a:srgbClr val="38E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444752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38EF7D"/>
                </a:solidFill>
                <a:latin typeface="Segoe UI"/>
              </a:rPr>
              <a:t>394.680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103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vistas totales</a:t>
            </a:r>
          </a:p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al modelo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1280160"/>
            <a:ext cx="2834640" cy="1325880"/>
          </a:xfrm>
          <a:prstGeom prst="roundRect">
            <a:avLst/>
          </a:prstGeom>
          <a:solidFill>
            <a:srgbClr val="14141E"/>
          </a:solidFill>
          <a:ln w="279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444752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Segoe UI"/>
              </a:rPr>
              <a:t>96,5 %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1031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vistas reciben</a:t>
            </a:r>
          </a:p>
          <a:p>
            <a:pPr algn="ctr"/>
            <a:r>
              <a:rPr sz="1300" b="1" i="0">
                <a:solidFill>
                  <a:srgbClr val="F0F0FA"/>
                </a:solidFill>
                <a:latin typeface="Segoe UI"/>
              </a:rPr>
              <a:t>≥ 1 augmentación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0"/>
            <a:ext cx="1161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F0FA"/>
                </a:solidFill>
                <a:latin typeface="Segoe UI"/>
              </a:rPr>
              <a:t>Pipeline Albumentations   ·   cada transformación se aplica de forma independiente con su propia probabilidad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072384"/>
            <a:ext cx="1161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5B5CF"/>
                </a:solidFill>
                <a:latin typeface="Segoe UI"/>
              </a:rPr>
              <a:t>Promedio ≈ 2,5 transformaciones por imagen   ·   96,5 % de las vistas reciben al menos una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33381" y="3429000"/>
            <a:ext cx="0" cy="3090672"/>
          </a:xfrm>
          <a:prstGeom prst="line">
            <a:avLst/>
          </a:prstGeom>
          <a:ln w="9525">
            <a:solidFill>
              <a:srgbClr val="2A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06443" y="3429000"/>
            <a:ext cx="0" cy="3090672"/>
          </a:xfrm>
          <a:prstGeom prst="line">
            <a:avLst/>
          </a:prstGeom>
          <a:ln w="9525">
            <a:solidFill>
              <a:srgbClr val="2A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79505" y="3429000"/>
            <a:ext cx="0" cy="3090672"/>
          </a:xfrm>
          <a:prstGeom prst="line">
            <a:avLst/>
          </a:prstGeom>
          <a:ln w="9525">
            <a:solidFill>
              <a:srgbClr val="2A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52566" y="3429000"/>
            <a:ext cx="0" cy="3090672"/>
          </a:xfrm>
          <a:prstGeom prst="line">
            <a:avLst/>
          </a:prstGeom>
          <a:ln w="9525">
            <a:solidFill>
              <a:srgbClr val="2A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" y="347472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Volteo horizontal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538728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3538728"/>
            <a:ext cx="3840480" cy="23774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74720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0.50    ≈ 4.934 / época    ≈ 197.340 en 40 épocas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959352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Rotación ±15°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023360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0" y="4023360"/>
            <a:ext cx="3840480" cy="23774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959352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0.50    ≈ 4.934 / época    ≈ 197.340 en 40 épocas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44398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Brillo / contraste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507992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0" y="4507992"/>
            <a:ext cx="3840480" cy="23774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443984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0.50    ≈ 4.934 / época    ≈ 197.340 en 40 épocas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92861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CLAHE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4992624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0" y="4992624"/>
            <a:ext cx="3840480" cy="237744"/>
          </a:xfrm>
          <a:prstGeom prst="roundRect">
            <a:avLst/>
          </a:prstGeom>
          <a:solidFill>
            <a:srgbClr val="38E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28616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0.50    ≈ 4.934 / época    ≈ 197.340 en 40 épocas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54132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Ruido gaussiano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477256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560320" y="5477256"/>
            <a:ext cx="2304288" cy="237744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413248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0.30    ≈ 2.960 / época    ≈ 118.404 en 40 épocas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89788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F0F0FA"/>
                </a:solidFill>
                <a:latin typeface="Segoe UI"/>
              </a:rPr>
              <a:t>Transformación elástica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0" y="5961888"/>
            <a:ext cx="3840480" cy="237744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560320" y="5961888"/>
            <a:ext cx="1536192" cy="237744"/>
          </a:xfrm>
          <a:prstGeom prst="roundRect">
            <a:avLst/>
          </a:prstGeom>
          <a:solidFill>
            <a:srgbClr val="F55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897880"/>
            <a:ext cx="5303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F0FA"/>
                </a:solidFill>
                <a:latin typeface="Segoe UI"/>
              </a:rPr>
              <a:t>p = 0.20    ≈ 1.973 / época    ≈ 78.936 en 40 épocas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65562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B5B5CF"/>
                </a:solidFill>
                <a:latin typeface="Segoe U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67621" y="65562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B5B5CF"/>
                </a:solidFill>
                <a:latin typeface="Segoe UI"/>
              </a:rPr>
              <a:t>50.000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40683" y="65562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B5B5CF"/>
                </a:solidFill>
                <a:latin typeface="Segoe UI"/>
              </a:rPr>
              <a:t>100.000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13745" y="65562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B5B5CF"/>
                </a:solidFill>
                <a:latin typeface="Segoe UI"/>
              </a:rPr>
              <a:t>150.000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6806" y="655624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B5B5CF"/>
                </a:solidFill>
                <a:latin typeface="Segoe UI"/>
              </a:rPr>
              <a:t>200.000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B5B5CF"/>
                </a:solidFill>
                <a:latin typeface="Segoe UI"/>
              </a:rPr>
              <a:t>Ninguna imagen augmentada se guarda en disco  ·  Las augmentations se generan al vuelo durante el entrenamiento  ·  Fuente: src/train_v2.py · build_train_transform()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